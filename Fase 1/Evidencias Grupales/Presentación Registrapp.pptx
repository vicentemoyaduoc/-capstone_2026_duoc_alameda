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Inter SemiBold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Urbanis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95A67F2-1C98-46E9-A200-48CD9C33AA6F}">
  <a:tblStyle styleId="{E95A67F2-1C98-46E9-A200-48CD9C33AA6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Urbanist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italic.fntdata"/><Relationship Id="rId25" Type="http://schemas.openxmlformats.org/officeDocument/2006/relationships/font" Target="fonts/Urbanist-bold.fntdata"/><Relationship Id="rId27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InterSemiBold-bold.fntdata"/><Relationship Id="rId16" Type="http://schemas.openxmlformats.org/officeDocument/2006/relationships/font" Target="fonts/InterSemiBold-regular.fntdata"/><Relationship Id="rId19" Type="http://schemas.openxmlformats.org/officeDocument/2006/relationships/font" Target="fonts/InterSemiBold-boldItalic.fntdata"/><Relationship Id="rId18" Type="http://schemas.openxmlformats.org/officeDocument/2006/relationships/font" Target="fonts/Inter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416915f1c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f416915f1c_0_5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Relationship Id="rId9" Type="http://schemas.openxmlformats.org/officeDocument/2006/relationships/image" Target="../media/image11.png"/><Relationship Id="rId5" Type="http://schemas.openxmlformats.org/officeDocument/2006/relationships/image" Target="../media/image20.png"/><Relationship Id="rId6" Type="http://schemas.openxmlformats.org/officeDocument/2006/relationships/image" Target="../media/image8.png"/><Relationship Id="rId7" Type="http://schemas.openxmlformats.org/officeDocument/2006/relationships/image" Target="../media/image1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11" Type="http://schemas.openxmlformats.org/officeDocument/2006/relationships/image" Target="../media/image7.png"/><Relationship Id="rId10" Type="http://schemas.openxmlformats.org/officeDocument/2006/relationships/image" Target="../media/image18.png"/><Relationship Id="rId9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22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Relationship Id="rId11" Type="http://schemas.openxmlformats.org/officeDocument/2006/relationships/image" Target="../media/image41.png"/><Relationship Id="rId10" Type="http://schemas.openxmlformats.org/officeDocument/2006/relationships/image" Target="../media/image16.png"/><Relationship Id="rId9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21.png"/><Relationship Id="rId8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48.png"/><Relationship Id="rId6" Type="http://schemas.openxmlformats.org/officeDocument/2006/relationships/image" Target="../media/image40.png"/><Relationship Id="rId7" Type="http://schemas.openxmlformats.org/officeDocument/2006/relationships/image" Target="../media/image39.png"/><Relationship Id="rId8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34.pn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35.png"/><Relationship Id="rId22" Type="http://schemas.openxmlformats.org/officeDocument/2006/relationships/image" Target="../media/image49.png"/><Relationship Id="rId21" Type="http://schemas.openxmlformats.org/officeDocument/2006/relationships/image" Target="../media/image37.png"/><Relationship Id="rId24" Type="http://schemas.openxmlformats.org/officeDocument/2006/relationships/image" Target="../media/image47.png"/><Relationship Id="rId23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27.png"/><Relationship Id="rId9" Type="http://schemas.openxmlformats.org/officeDocument/2006/relationships/image" Target="../media/image30.png"/><Relationship Id="rId25" Type="http://schemas.openxmlformats.org/officeDocument/2006/relationships/image" Target="../media/image4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9.png"/><Relationship Id="rId8" Type="http://schemas.openxmlformats.org/officeDocument/2006/relationships/image" Target="../media/image28.png"/><Relationship Id="rId11" Type="http://schemas.openxmlformats.org/officeDocument/2006/relationships/image" Target="../media/image43.png"/><Relationship Id="rId10" Type="http://schemas.openxmlformats.org/officeDocument/2006/relationships/image" Target="../media/image33.png"/><Relationship Id="rId13" Type="http://schemas.openxmlformats.org/officeDocument/2006/relationships/image" Target="../media/image31.png"/><Relationship Id="rId12" Type="http://schemas.openxmlformats.org/officeDocument/2006/relationships/image" Target="../media/image51.png"/><Relationship Id="rId15" Type="http://schemas.openxmlformats.org/officeDocument/2006/relationships/image" Target="../media/image32.png"/><Relationship Id="rId14" Type="http://schemas.openxmlformats.org/officeDocument/2006/relationships/image" Target="../media/image52.png"/><Relationship Id="rId17" Type="http://schemas.openxmlformats.org/officeDocument/2006/relationships/image" Target="../media/image38.png"/><Relationship Id="rId16" Type="http://schemas.openxmlformats.org/officeDocument/2006/relationships/image" Target="../media/image46.png"/><Relationship Id="rId19" Type="http://schemas.openxmlformats.org/officeDocument/2006/relationships/image" Target="../media/image36.png"/><Relationship Id="rId18" Type="http://schemas.openxmlformats.org/officeDocument/2006/relationships/image" Target="../media/image5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444925" y="2905975"/>
            <a:ext cx="7302300" cy="13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rgbClr val="E4E4E7"/>
                </a:solidFill>
                <a:latin typeface="Inter"/>
                <a:ea typeface="Inter"/>
                <a:cs typeface="Inter"/>
                <a:sym typeface="Inter"/>
              </a:rPr>
              <a:t>Plataforma web de gestión de asistencia mediante código QR firmado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21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917578"/>
            <a:ext cx="3555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PRESENTADO POR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5351859"/>
            <a:ext cx="3555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Vicente Moya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Marcos Tapia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317950" y="4917578"/>
            <a:ext cx="3555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DOCENTE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317950" y="5351859"/>
            <a:ext cx="3555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Felipe Antonio Krauss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064400" y="4917578"/>
            <a:ext cx="355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FECHA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064400" y="5351859"/>
            <a:ext cx="3556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31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/08/2026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95275" y="1010691"/>
            <a:ext cx="11601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Capstone-001D</a:t>
            </a:r>
            <a:endParaRPr>
              <a:solidFill>
                <a:srgbClr val="22D3EE"/>
              </a:solidFill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295275" y="1420266"/>
            <a:ext cx="1160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5400">
                <a:solidFill>
                  <a:srgbClr val="F4F4F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Registr</a:t>
            </a:r>
            <a:r>
              <a:rPr lang="en-US" sz="5400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</a:t>
            </a:r>
            <a:endParaRPr>
              <a:solidFill>
                <a:srgbClr val="22D3E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24062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923925" y="1795462"/>
            <a:ext cx="4886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Reemplazo digital:</a:t>
            </a: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Sustituye la pasada de lista tradicional en papel por un código QR de vigencia breve.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23925" y="2938462"/>
            <a:ext cx="4886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Proceso ágil:</a:t>
            </a: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El responsable proyecta el código, el miembro abre el enlace firmado con su cámara y el servidor registra la marca en vivo.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23925" y="4081462"/>
            <a:ext cx="4886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Demanda transversal:</a:t>
            </a: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Aplicable en sectores como educación, retail, salud e industria.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23925" y="4919662"/>
            <a:ext cx="4886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Seguridad empresarial:</a:t>
            </a: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Exige autenticación por rol y firma de tokens (prácticas de seguridad y modelamiento de nivel profesional).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33587"/>
            <a:ext cx="5210175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18478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29908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133850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497205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4F4F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 Proyecto </a:t>
            </a:r>
            <a:r>
              <a:rPr b="0" i="0" lang="en-US" sz="3000" u="none" cap="none" strike="noStrike">
                <a:solidFill>
                  <a:srgbClr val="52525B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581025" y="1190625"/>
            <a:ext cx="1102995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53666"/>
            <a:ext cx="5372100" cy="1832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953666"/>
            <a:ext cx="5372100" cy="1832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071937"/>
            <a:ext cx="5372100" cy="1832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38875" y="4071937"/>
            <a:ext cx="5372100" cy="183252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1281410" y="2248941"/>
            <a:ext cx="4595261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4F4F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Pruebas de certificación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76300" y="2668041"/>
            <a:ext cx="47817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Pruebas unitarias con Jasmine y Karma, pruebas de extremo a extremo con Playwright y ejecución automática en cada integración.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6939260" y="2248941"/>
            <a:ext cx="4595261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4F4F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Gestión de proyectos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534150" y="2668041"/>
            <a:ext cx="47817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Planificación por épicas, estimación en puntos de función, sprints de dos semanas y control de avance en tablero.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1252835" y="4367212"/>
            <a:ext cx="46252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4F4F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Modelos de datos escalables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76300" y="4786312"/>
            <a:ext cx="47817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Esquema relacional en PostgreSQL con llaves foráneas, restricciones de unicidad, vistas agregadas y seguridad a nivel de fila.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7005935" y="4367212"/>
            <a:ext cx="4525253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4F4F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Implantación de software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534150" y="4786312"/>
            <a:ext cx="47817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Aplicación Angular integrada a servicios en la nube y desplegada en un entorno público completamente operativo.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6300" y="2253704"/>
            <a:ext cx="26223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4150" y="2253704"/>
            <a:ext cx="26223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76300" y="4371975"/>
            <a:ext cx="23366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34150" y="4371975"/>
            <a:ext cx="32891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4F4F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Competencias del Perfil de Egreso </a:t>
            </a:r>
            <a:r>
              <a:rPr b="0" i="0" lang="en-US" sz="3000" u="none" cap="none" strike="noStrike">
                <a:solidFill>
                  <a:srgbClr val="52525B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581025" y="1190625"/>
            <a:ext cx="1102995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76500"/>
            <a:ext cx="5372100" cy="1832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476500"/>
            <a:ext cx="5372100" cy="1832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594770"/>
            <a:ext cx="5372100" cy="1832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38875" y="4594770"/>
            <a:ext cx="5372100" cy="183252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581025" y="1581150"/>
            <a:ext cx="11029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4E4E7"/>
                </a:solidFill>
                <a:latin typeface="Inter"/>
                <a:ea typeface="Inter"/>
                <a:cs typeface="Inter"/>
                <a:sym typeface="Inter"/>
              </a:rPr>
              <a:t>El proyecto es factible dentro de las 10 semanas siguiendo un proceso de ingeniería riguroso, en un área que nos apasiona profundamente.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252835" y="2771775"/>
            <a:ext cx="46252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4F4F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Alcance acotado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76300" y="3190875"/>
            <a:ext cx="47817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Desarrollo enfocado solo en el sistema web; las aplicaciones instalables móviles quedan como evolución futura.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7005935" y="2771775"/>
            <a:ext cx="4525253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4F4F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Tecnologías conocidas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534150" y="3190875"/>
            <a:ext cx="47817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Angular y SQL ya han sido trabajados en la carrera; la curva de aprendizaje se concentra exclusivamente en Supabase.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1281410" y="4890045"/>
            <a:ext cx="4595261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4F4F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Costo cero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876300" y="5309145"/>
            <a:ext cx="47817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Supabase, Vercel y GitHub operan en planes gratuitos, permitiendo validación sin necesidad de infraestructura propia.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7005935" y="4890045"/>
            <a:ext cx="4525253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4F4F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Sin dependencia externa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534150" y="5309145"/>
            <a:ext cx="47817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El sistema se valida de manera autónoma con una institución de prueba creada por el propio equipo.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image.png" id="152" name="Google Shape;15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6300" y="2776537"/>
            <a:ext cx="23366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4150" y="2776537"/>
            <a:ext cx="32891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76300" y="4894808"/>
            <a:ext cx="26223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34150" y="4894808"/>
            <a:ext cx="32891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4F4F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Intereses y Factibilidad </a:t>
            </a:r>
            <a:r>
              <a:rPr b="0" i="0" lang="en-US" sz="3000" u="none" cap="none" strike="noStrike">
                <a:solidFill>
                  <a:srgbClr val="52525B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581025" y="1190625"/>
            <a:ext cx="1102995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81150"/>
            <a:ext cx="11029950" cy="12534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215580"/>
            <a:ext cx="5372100" cy="14134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3215580"/>
            <a:ext cx="5372100" cy="14134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914751"/>
            <a:ext cx="5372100" cy="14134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38875" y="4914751"/>
            <a:ext cx="5372100" cy="141342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809625" y="1771650"/>
            <a:ext cx="10610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4F4F5"/>
                </a:solidFill>
                <a:latin typeface="Inter"/>
                <a:ea typeface="Inter"/>
                <a:cs typeface="Inter"/>
                <a:sym typeface="Inter"/>
              </a:rPr>
              <a:t>Objetivo General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809625" y="2095500"/>
            <a:ext cx="10610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4E4E7"/>
                </a:solidFill>
                <a:latin typeface="Inter"/>
                <a:ea typeface="Inter"/>
                <a:cs typeface="Inter"/>
                <a:sym typeface="Inter"/>
              </a:rPr>
              <a:t>Desarrollar un sistema web que registre y controle la asistencia mediante códigos QR firmados de vigencia limitada, entregando información en tiempo real y reportes exportables.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876300" y="3688853"/>
            <a:ext cx="41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1485900" y="3647926"/>
            <a:ext cx="41721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Implementar la gestión de instituciones, grupos y usuarios con </a:t>
            </a:r>
            <a:r>
              <a:rPr b="1" i="0" lang="en-US" sz="135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acceso segregado por rol</a:t>
            </a:r>
            <a:r>
              <a:rPr b="0" i="0" lang="en-US" sz="135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6534150" y="3688853"/>
            <a:ext cx="49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7219950" y="3510855"/>
            <a:ext cx="40959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Construir el </a:t>
            </a:r>
            <a:r>
              <a:rPr b="1" i="0" lang="en-US" sz="135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registro por código QR</a:t>
            </a:r>
            <a:r>
              <a:rPr b="0" i="0" lang="en-US" sz="135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con token firmado criptográficamente y validación en servidor.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876300" y="5388024"/>
            <a:ext cx="50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1571625" y="5210026"/>
            <a:ext cx="40863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Desarrollar un panel que muestre el </a:t>
            </a:r>
            <a:r>
              <a:rPr b="1" i="0" lang="en-US" sz="135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estado de asistencia en vivo</a:t>
            </a:r>
            <a:r>
              <a:rPr b="0" i="0" lang="en-US" sz="135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, sin necesidad de recarga manual.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6534150" y="5388024"/>
            <a:ext cx="51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7239000" y="5347096"/>
            <a:ext cx="40767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Generar </a:t>
            </a:r>
            <a:r>
              <a:rPr b="1" i="0" lang="en-US" sz="135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reportes de asistencia y tardanza</a:t>
            </a:r>
            <a:r>
              <a:rPr b="0" i="0" lang="en-US" sz="135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exportables a Excel y PDF por grupo y fecha.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4F4F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Objetivos del Proyecto </a:t>
            </a:r>
            <a:r>
              <a:rPr b="0" i="0" lang="en-US" sz="3000" u="none" cap="none" strike="noStrike">
                <a:solidFill>
                  <a:srgbClr val="52525B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581025" y="1190625"/>
            <a:ext cx="1102995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581025" y="2368004"/>
            <a:ext cx="110299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Trabajamos con Scrum (sprints de 2 semanas) y backlog por épica. Una capa de arquitectura es entregada por hito.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581025" y="2897534"/>
            <a:ext cx="366045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Presentación (Frontend)</a:t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581025" y="3240434"/>
            <a:ext cx="348615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581025" y="3440459"/>
            <a:ext cx="3486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Interfaz de usuario: estado visual y reacción a eventos.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4352925" y="2897534"/>
            <a:ext cx="366045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Lógica (Edge Functions)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4352925" y="3240434"/>
            <a:ext cx="348615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4352925" y="3440459"/>
            <a:ext cx="3486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Validación y seguridad ejecutada fuera del cliente.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8124825" y="2897534"/>
            <a:ext cx="366045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 Acceso a Datos (BD)</a:t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8124825" y="3240434"/>
            <a:ext cx="348615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8124825" y="3440459"/>
            <a:ext cx="3486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Motor PostgreSQL en Supabase con políticas nativas.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771525" y="4118520"/>
            <a:ext cx="3295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H1:</a:t>
            </a:r>
            <a:r>
              <a:rPr b="0" i="0" lang="en-US" sz="1125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Formularios de alta institucionales.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771525" y="4461420"/>
            <a:ext cx="3295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H2:</a:t>
            </a:r>
            <a:r>
              <a:rPr b="0" i="0" lang="en-US" sz="1125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Interfaz QR dinámico y confirmación.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771525" y="4804320"/>
            <a:ext cx="3295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H3:</a:t>
            </a:r>
            <a:r>
              <a:rPr b="0" i="0" lang="en-US" sz="1125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Panel de monitoreo en vivo.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771525" y="5147220"/>
            <a:ext cx="3295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H4:</a:t>
            </a:r>
            <a:r>
              <a:rPr b="0" i="0" lang="en-US" sz="1125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Controles exportación Excel/PDF.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4543425" y="4118520"/>
            <a:ext cx="3295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H2:</a:t>
            </a:r>
            <a:r>
              <a:rPr b="0" i="0" lang="en-US" sz="1125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Generación y firma de token criptográfico.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4543425" y="4461420"/>
            <a:ext cx="3295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H2:</a:t>
            </a:r>
            <a:r>
              <a:rPr b="0" i="0" lang="en-US" sz="1125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Validación de vigencia y grupo.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4543425" y="4804320"/>
            <a:ext cx="3295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H4:</a:t>
            </a:r>
            <a:r>
              <a:rPr b="0" i="0" lang="en-US" sz="1125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Endpoints de procesamiento de datos para exportación segura.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8315325" y="4118520"/>
            <a:ext cx="3295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H1:</a:t>
            </a:r>
            <a:r>
              <a:rPr b="0" i="0" lang="en-US" sz="1125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Esquema y políticas RLS.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8315325" y="4461420"/>
            <a:ext cx="3295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H1:</a:t>
            </a:r>
            <a:r>
              <a:rPr b="0" i="0" lang="en-US" sz="1125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Supabase Auth por roles.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8315325" y="4804320"/>
            <a:ext cx="3295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H3:</a:t>
            </a:r>
            <a:r>
              <a:rPr b="0" i="0" lang="en-US" sz="1125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Suscripciones Realtime seguras.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8315325" y="5147220"/>
            <a:ext cx="3295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H4:</a:t>
            </a:r>
            <a:r>
              <a:rPr b="0" i="0" lang="en-US" sz="1125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Vistas SQL agregadas de métricas.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6" name="Google Shape;206;p18"/>
          <p:cNvSpPr txBox="1"/>
          <p:nvPr/>
        </p:nvSpPr>
        <p:spPr>
          <a:xfrm>
            <a:off x="581025" y="4118520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581025" y="4461420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581025" y="4804320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581025" y="5147220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4352925" y="4118520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4352925" y="4461420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4352925" y="4804320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8124825" y="4118520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8124825" y="4461420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8124825" y="4804320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8124825" y="5147220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4F4F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Metodología Scrum &amp; Arquitectura </a:t>
            </a:r>
            <a:r>
              <a:rPr b="0" i="0" lang="en-US" sz="3000" u="none" cap="none" strike="noStrike">
                <a:solidFill>
                  <a:srgbClr val="52525B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/>
          </a:p>
        </p:txBody>
      </p:sp>
      <p:sp>
        <p:nvSpPr>
          <p:cNvPr id="218" name="Google Shape;218;p18"/>
          <p:cNvSpPr/>
          <p:nvPr/>
        </p:nvSpPr>
        <p:spPr>
          <a:xfrm>
            <a:off x="581025" y="1190625"/>
            <a:ext cx="1102995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65164"/>
            <a:ext cx="11029950" cy="332764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5" name="Google Shape;225;p19"/>
          <p:cNvGraphicFramePr/>
          <p:nvPr/>
        </p:nvGraphicFramePr>
        <p:xfrm>
          <a:off x="590550" y="22746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{E95A67F2-1C98-46E9-A200-48CD9C33AA6F}</a:tableStyleId>
              </a:tblPr>
              <a:tblGrid>
                <a:gridCol w="1094025"/>
                <a:gridCol w="5551425"/>
                <a:gridCol w="2683525"/>
                <a:gridCol w="1681900"/>
              </a:tblGrid>
              <a:tr h="55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4F4F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Hito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4F4F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Enfoque Principal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4F4F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Fechas Estimadas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4F4F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Estado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272A"/>
                    </a:solidFill>
                  </a:tcPr>
                </a:tc>
              </a:tr>
              <a:tr h="55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Hito 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252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Configuración Institucional (Esquema, Auth, Formularios)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252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S1 - S2 (07/09 al 20/09)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252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0% AVANCE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2525B"/>
                    </a:solidFill>
                  </a:tcPr>
                </a:tc>
              </a:tr>
              <a:tr h="55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Hito 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1A1A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Registro por Código QR (Firma Edge, Validación, Vista)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1A1A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S3 - S4 (21/09 al 04/10)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1A1A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0% AVANCE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1A1AA"/>
                    </a:solidFill>
                  </a:tcPr>
                </a:tc>
              </a:tr>
              <a:tr h="55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Hito 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252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Panel en Tiempo Real (Suscripciones, Políticas, Tabla)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252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S5 - S6 (05/10 al 18/10)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252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0% AVANCE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2525B"/>
                    </a:solidFill>
                  </a:tcPr>
                </a:tc>
              </a:tr>
              <a:tr h="55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Hito 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1A1A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Reportes y Métricas (Vistas SQL, Endpoints, Exportación)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1A1A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S7 - S8 (19/10 al 01/11)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1A1A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0% AVANCE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1A1AA"/>
                    </a:solidFill>
                  </a:tcPr>
                </a:tc>
              </a:tr>
              <a:tr h="55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Hito 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252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Cierre, Pruebas QA y Despliegue Final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252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S9 - S10 (02/11 al 15/11)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252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0% AVANCE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2525B"/>
                    </a:solidFill>
                  </a:tcPr>
                </a:tc>
              </a:tr>
            </a:tbl>
          </a:graphicData>
        </a:graphic>
      </p:graphicFrame>
      <p:sp>
        <p:nvSpPr>
          <p:cNvPr id="226" name="Google Shape;226;p19"/>
          <p:cNvSpPr/>
          <p:nvPr/>
        </p:nvSpPr>
        <p:spPr>
          <a:xfrm>
            <a:off x="590550" y="2787997"/>
            <a:ext cx="1094035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1684585" y="2787997"/>
            <a:ext cx="5551437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7236023" y="2787997"/>
            <a:ext cx="2683519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9919543" y="2787997"/>
            <a:ext cx="1681906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590550" y="3346102"/>
            <a:ext cx="1094035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1684585" y="3346102"/>
            <a:ext cx="5551437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7236023" y="3346102"/>
            <a:ext cx="2683519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9919543" y="3346102"/>
            <a:ext cx="1681906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590550" y="3904208"/>
            <a:ext cx="1094035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1684585" y="3904208"/>
            <a:ext cx="5551437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7236023" y="3904208"/>
            <a:ext cx="2683519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9919543" y="3904208"/>
            <a:ext cx="1681906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590550" y="4462313"/>
            <a:ext cx="1094035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1684585" y="4462313"/>
            <a:ext cx="5551437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7236023" y="4462313"/>
            <a:ext cx="2683519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9919543" y="4462313"/>
            <a:ext cx="1681906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590550" y="5020419"/>
            <a:ext cx="1094035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1684585" y="5020419"/>
            <a:ext cx="5551437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7236023" y="5020419"/>
            <a:ext cx="2683519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9919543" y="5020419"/>
            <a:ext cx="1681906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9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4F4F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Plan de Trabajo (Resumen Hitos) </a:t>
            </a:r>
            <a:r>
              <a:rPr b="0" i="0" lang="en-US" sz="3000" u="none" cap="none" strike="noStrike">
                <a:solidFill>
                  <a:srgbClr val="52525B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581025" y="1190625"/>
            <a:ext cx="1102995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2" name="Google Shape;25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81150"/>
            <a:ext cx="2614612" cy="2252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6137" y="1581150"/>
            <a:ext cx="2614612" cy="2252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0" y="1581150"/>
            <a:ext cx="2614612" cy="2252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96362" y="1581150"/>
            <a:ext cx="2614612" cy="2252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024312"/>
            <a:ext cx="2614612" cy="2252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86137" y="4024312"/>
            <a:ext cx="2614612" cy="2252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191250" y="4024312"/>
            <a:ext cx="2614612" cy="2252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996362" y="4024312"/>
            <a:ext cx="2614612" cy="2252662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0"/>
          <p:cNvSpPr txBox="1"/>
          <p:nvPr/>
        </p:nvSpPr>
        <p:spPr>
          <a:xfrm>
            <a:off x="819150" y="2409825"/>
            <a:ext cx="2138362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Framework principal (standalone), tipado con TypeScript, enrutamiento por rol y diseño responsivo.</a:t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3624262" y="2409825"/>
            <a:ext cx="2138362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Componentes accesibles y listos para usar (tablas, diálogos). Reduce drásticamente el tiempo de maquetación.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6429375" y="2409825"/>
            <a:ext cx="2138362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Renderiza el código QR del enlace firmado, con regeneración automática al vencer cada intervalo de seguridad.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9234487" y="2409825"/>
            <a:ext cx="2138362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Base de datos relacional PostgreSQL con capacidades de tiempo real integradas sin necesidad de API propia.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819150" y="4852987"/>
            <a:ext cx="2138362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Políticas de visibilidad por rol declaradas directamente en la BD (no en el cliente). Máxima seguridad nativa.</a:t>
            </a:r>
            <a:endParaRPr/>
          </a:p>
        </p:txBody>
      </p:sp>
      <p:sp>
        <p:nvSpPr>
          <p:cNvPr id="266" name="Google Shape;266;p20"/>
          <p:cNvSpPr txBox="1"/>
          <p:nvPr/>
        </p:nvSpPr>
        <p:spPr>
          <a:xfrm>
            <a:off x="3624262" y="4852987"/>
            <a:ext cx="2138362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Funciones Serverless (Deno/TS) que firman y validan el token QR en un entorno de confianza fuera del navegador.</a:t>
            </a:r>
            <a:endParaRPr/>
          </a:p>
        </p:txBody>
      </p:sp>
      <p:sp>
        <p:nvSpPr>
          <p:cNvPr id="267" name="Google Shape;267;p20"/>
          <p:cNvSpPr txBox="1"/>
          <p:nvPr/>
        </p:nvSpPr>
        <p:spPr>
          <a:xfrm>
            <a:off x="6429375" y="4978598"/>
            <a:ext cx="2138362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Librerías robustas que generan archivos Excel y PDF puramente desde el navegador, sin servidor de reportería.</a:t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9234487" y="4852987"/>
            <a:ext cx="2138362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Publicación continua desde repositorio GitHub, HTTPS automático y entornos de vistas previas por rama.</a:t>
            </a:r>
            <a:endParaRPr/>
          </a:p>
        </p:txBody>
      </p:sp>
      <p:pic>
        <p:nvPicPr>
          <p:cNvPr descr="image.png" id="269" name="Google Shape;269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19150" y="1819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0"/>
          <p:cNvSpPr txBox="1"/>
          <p:nvPr/>
        </p:nvSpPr>
        <p:spPr>
          <a:xfrm>
            <a:off x="1438275" y="1859300"/>
            <a:ext cx="175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Aplicación Web</a:t>
            </a:r>
            <a:endParaRPr/>
          </a:p>
        </p:txBody>
      </p:sp>
      <p:pic>
        <p:nvPicPr>
          <p:cNvPr descr="image.png" id="271" name="Google Shape;271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624262" y="1819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0"/>
          <p:cNvSpPr txBox="1"/>
          <p:nvPr/>
        </p:nvSpPr>
        <p:spPr>
          <a:xfrm>
            <a:off x="4243387" y="1859309"/>
            <a:ext cx="1471612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Interfaz de Usuario</a:t>
            </a:r>
            <a:endParaRPr/>
          </a:p>
        </p:txBody>
      </p:sp>
      <p:pic>
        <p:nvPicPr>
          <p:cNvPr descr="image.png" id="273" name="Google Shape;273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429375" y="1819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0"/>
          <p:cNvSpPr txBox="1"/>
          <p:nvPr/>
        </p:nvSpPr>
        <p:spPr>
          <a:xfrm>
            <a:off x="7048500" y="1859300"/>
            <a:ext cx="194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Generación de QR</a:t>
            </a:r>
            <a:endParaRPr/>
          </a:p>
        </p:txBody>
      </p:sp>
      <p:pic>
        <p:nvPicPr>
          <p:cNvPr descr="image.png" id="275" name="Google Shape;275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234487" y="1819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0"/>
          <p:cNvSpPr txBox="1"/>
          <p:nvPr/>
        </p:nvSpPr>
        <p:spPr>
          <a:xfrm>
            <a:off x="9853592" y="1859300"/>
            <a:ext cx="1642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Backend y BD</a:t>
            </a:r>
            <a:endParaRPr/>
          </a:p>
        </p:txBody>
      </p:sp>
      <p:pic>
        <p:nvPicPr>
          <p:cNvPr descr="image.png" id="277" name="Google Shape;277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19150" y="426243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0"/>
          <p:cNvSpPr txBox="1"/>
          <p:nvPr/>
        </p:nvSpPr>
        <p:spPr>
          <a:xfrm>
            <a:off x="1438275" y="4302472"/>
            <a:ext cx="1119187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Autenticación</a:t>
            </a:r>
            <a:endParaRPr/>
          </a:p>
        </p:txBody>
      </p:sp>
      <p:pic>
        <p:nvPicPr>
          <p:cNvPr descr="image.png" id="279" name="Google Shape;279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624262" y="426243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0"/>
          <p:cNvSpPr txBox="1"/>
          <p:nvPr/>
        </p:nvSpPr>
        <p:spPr>
          <a:xfrm>
            <a:off x="4243387" y="4302472"/>
            <a:ext cx="13906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Lógica de Servidor</a:t>
            </a:r>
            <a:endParaRPr/>
          </a:p>
        </p:txBody>
      </p:sp>
      <p:pic>
        <p:nvPicPr>
          <p:cNvPr descr="image.png" id="281" name="Google Shape;281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429375" y="4325242"/>
            <a:ext cx="464343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0"/>
          <p:cNvSpPr txBox="1"/>
          <p:nvPr/>
        </p:nvSpPr>
        <p:spPr>
          <a:xfrm>
            <a:off x="7036593" y="4262437"/>
            <a:ext cx="1531143" cy="601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Reportes</a:t>
            </a:r>
            <a:endParaRPr/>
          </a:p>
        </p:txBody>
      </p:sp>
      <p:pic>
        <p:nvPicPr>
          <p:cNvPr descr="image.png" id="283" name="Google Shape;283;p2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9234487" y="426243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0"/>
          <p:cNvSpPr txBox="1"/>
          <p:nvPr/>
        </p:nvSpPr>
        <p:spPr>
          <a:xfrm>
            <a:off x="9850439" y="4312900"/>
            <a:ext cx="154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Despliegue</a:t>
            </a:r>
            <a:endParaRPr/>
          </a:p>
        </p:txBody>
      </p:sp>
      <p:pic>
        <p:nvPicPr>
          <p:cNvPr descr="image.png" id="285" name="Google Shape;285;p2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923925" y="1905000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0"/>
          <p:cNvSpPr txBox="1"/>
          <p:nvPr/>
        </p:nvSpPr>
        <p:spPr>
          <a:xfrm>
            <a:off x="1397788" y="2044109"/>
            <a:ext cx="120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4F4F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Angular 18</a:t>
            </a:r>
            <a:endParaRPr/>
          </a:p>
        </p:txBody>
      </p:sp>
      <p:pic>
        <p:nvPicPr>
          <p:cNvPr descr="image.png" id="287" name="Google Shape;287;p20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690937" y="1905000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0"/>
          <p:cNvSpPr txBox="1"/>
          <p:nvPr/>
        </p:nvSpPr>
        <p:spPr>
          <a:xfrm>
            <a:off x="4217337" y="2065009"/>
            <a:ext cx="1545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4F4F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PrimeNG</a:t>
            </a:r>
            <a:endParaRPr/>
          </a:p>
        </p:txBody>
      </p:sp>
      <p:pic>
        <p:nvPicPr>
          <p:cNvPr descr="image.png" id="289" name="Google Shape;289;p20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534150" y="1905000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0"/>
          <p:cNvSpPr txBox="1"/>
          <p:nvPr/>
        </p:nvSpPr>
        <p:spPr>
          <a:xfrm>
            <a:off x="7058600" y="2044100"/>
            <a:ext cx="1680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4F4F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angularx-qrcode</a:t>
            </a:r>
            <a:endParaRPr/>
          </a:p>
        </p:txBody>
      </p:sp>
      <p:pic>
        <p:nvPicPr>
          <p:cNvPr descr="image.png" id="291" name="Google Shape;291;p20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9339262" y="1905000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0"/>
          <p:cNvSpPr txBox="1"/>
          <p:nvPr/>
        </p:nvSpPr>
        <p:spPr>
          <a:xfrm>
            <a:off x="9853612" y="2066109"/>
            <a:ext cx="1020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4F4F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Supabase</a:t>
            </a:r>
            <a:endParaRPr/>
          </a:p>
        </p:txBody>
      </p:sp>
      <p:pic>
        <p:nvPicPr>
          <p:cNvPr descr="image.png" id="293" name="Google Shape;293;p20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904875" y="434816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0"/>
          <p:cNvSpPr txBox="1"/>
          <p:nvPr/>
        </p:nvSpPr>
        <p:spPr>
          <a:xfrm>
            <a:off x="1438275" y="4508147"/>
            <a:ext cx="1175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4F4F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Auth + RLS</a:t>
            </a:r>
            <a:endParaRPr/>
          </a:p>
        </p:txBody>
      </p:sp>
      <p:pic>
        <p:nvPicPr>
          <p:cNvPr descr="image.png" id="295" name="Google Shape;295;p20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3709987" y="434816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0"/>
          <p:cNvSpPr txBox="1"/>
          <p:nvPr/>
        </p:nvSpPr>
        <p:spPr>
          <a:xfrm>
            <a:off x="4216812" y="4508147"/>
            <a:ext cx="1460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4F4F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Edge Functions</a:t>
            </a:r>
            <a:endParaRPr/>
          </a:p>
        </p:txBody>
      </p:sp>
      <p:pic>
        <p:nvPicPr>
          <p:cNvPr descr="image.png" id="297" name="Google Shape;297;p20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6547246" y="4410967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0"/>
          <p:cNvSpPr txBox="1"/>
          <p:nvPr/>
        </p:nvSpPr>
        <p:spPr>
          <a:xfrm>
            <a:off x="7033452" y="4459425"/>
            <a:ext cx="2061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4F4F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SheetJS + pdfmake</a:t>
            </a:r>
            <a:endParaRPr/>
          </a:p>
        </p:txBody>
      </p:sp>
      <p:pic>
        <p:nvPicPr>
          <p:cNvPr descr="image.png" id="299" name="Google Shape;299;p20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9320212" y="434816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0"/>
          <p:cNvSpPr txBox="1"/>
          <p:nvPr/>
        </p:nvSpPr>
        <p:spPr>
          <a:xfrm>
            <a:off x="9850462" y="4509260"/>
            <a:ext cx="850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4F4F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Vercel</a:t>
            </a:r>
            <a:endParaRPr/>
          </a:p>
        </p:txBody>
      </p:sp>
      <p:sp>
        <p:nvSpPr>
          <p:cNvPr id="301" name="Google Shape;301;p20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4F4F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Tecnologías del Proyecto </a:t>
            </a:r>
            <a:r>
              <a:rPr b="0" i="0" lang="en-US" sz="3000" u="none" cap="none" strike="noStrike">
                <a:solidFill>
                  <a:srgbClr val="52525B"/>
                </a:solidFill>
                <a:latin typeface="Inter"/>
                <a:ea typeface="Inter"/>
                <a:cs typeface="Inter"/>
                <a:sym typeface="Inter"/>
              </a:rPr>
              <a:t>08</a:t>
            </a:r>
            <a:endParaRPr/>
          </a:p>
        </p:txBody>
      </p:sp>
      <p:sp>
        <p:nvSpPr>
          <p:cNvPr id="302" name="Google Shape;302;p20"/>
          <p:cNvSpPr/>
          <p:nvPr/>
        </p:nvSpPr>
        <p:spPr>
          <a:xfrm>
            <a:off x="581025" y="1190625"/>
            <a:ext cx="1102995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1"/>
          <p:cNvSpPr txBox="1"/>
          <p:nvPr/>
        </p:nvSpPr>
        <p:spPr>
          <a:xfrm>
            <a:off x="305276" y="2067966"/>
            <a:ext cx="11581447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4F4F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Próximos Pasos</a:t>
            </a:r>
            <a:endParaRPr/>
          </a:p>
        </p:txBody>
      </p:sp>
      <p:sp>
        <p:nvSpPr>
          <p:cNvPr id="308" name="Google Shape;308;p21"/>
          <p:cNvSpPr txBox="1"/>
          <p:nvPr/>
        </p:nvSpPr>
        <p:spPr>
          <a:xfrm>
            <a:off x="2286000" y="3182391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4E4E7"/>
                </a:solidFill>
                <a:latin typeface="Inter"/>
                <a:ea typeface="Inter"/>
                <a:cs typeface="Inter"/>
                <a:sym typeface="Inter"/>
              </a:rPr>
              <a:t>Cerrar la especificación, levantar el modelo de datos inicial y validar la arquitectura del token firmado durante la Semana 1.</a:t>
            </a:r>
            <a:endParaRPr/>
          </a:p>
        </p:txBody>
      </p:sp>
      <p:sp>
        <p:nvSpPr>
          <p:cNvPr id="309" name="Google Shape;309;p21"/>
          <p:cNvSpPr txBox="1"/>
          <p:nvPr/>
        </p:nvSpPr>
        <p:spPr>
          <a:xfrm>
            <a:off x="581025" y="4485233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2525B"/>
                </a:solidFill>
                <a:latin typeface="Inter"/>
                <a:ea typeface="Inter"/>
                <a:cs typeface="Inter"/>
                <a:sym typeface="Inter"/>
              </a:rPr>
              <a:t>¿Preguntas o comentarios?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